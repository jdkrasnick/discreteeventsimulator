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Shared-Station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</a:rPr>
              <a:t>v2 extensions: upstream control, scheduling policies, and RL gym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2044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794760"/>
            <a:ext cx="31089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13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Buffer + Station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794760"/>
            <a:ext cx="31089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3813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Scheduling Policies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794760"/>
            <a:ext cx="31089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3813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RL Gym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Additive design — legacy routed servers unchanged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64008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990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Design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9903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Upstream vs downstream control — where should the RL policy live?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64008" cy="621792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7E8F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7E8F9"/>
                </a:solidFill>
              </a:rPr>
              <a:t>Upstream: Buffer + 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3055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New passive-queue / active-server split with topology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112471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64008" cy="6217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0779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717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620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Downstream: Routed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6207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Legacy server with implicit queue; router fires on each departure.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112471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20440"/>
            <a:ext cx="64008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3931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935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Scheduling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9359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Four built-in policies + Callback hook for custom / RL logic.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1960"/>
            <a:ext cx="112471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51960"/>
            <a:ext cx="64008" cy="62179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7083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84FC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251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</a:rPr>
              <a:t>RL Gym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32511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SharedStationSchedulingGym: obs, action, reward, and training loop.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12471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64008" cy="6217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0235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0566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Queue Discipline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05663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FIFO / FBFS / LBFS — downstream-only, stage-based selection.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15000"/>
            <a:ext cx="112471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715000"/>
            <a:ext cx="64008" cy="6217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83387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4A3B8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7881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Discipline Comparison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78815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Simulated M/M/1 stats across all three disciplines vs. theory.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All extensions are additive — legacy routed servers and v1 networks remain unchanged.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Design Question: Upstream vs Downstream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035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</a:rPr>
              <a:t>Downstream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Decision happens after service finishes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4028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Where does the completed job go next?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8072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Simple semantics, standard event-driven RL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74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7413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Hides queue ownership;
less faithful for shared-resource 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4106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PPO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94106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P(successor | state);
action = next hop after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81144"/>
            <a:ext cx="5029200" cy="2743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7258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Algorithms that use this surface: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10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JSQ (Join Shortest Queue) — route to least-loaded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852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Probabilistic / class-based routing — Jackson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59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ε-greedy / softmax routing — tabular RL baselines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33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JFCFS load balancing — parallel server dispatching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1234440"/>
            <a:ext cx="53035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8232" y="1234440"/>
            <a:ext cx="53035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Upstream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Decision happens when a resource becomes idle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224028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224028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Which waiting buffer gets service now?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8072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Strength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28072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Natural for shared-resource and
re-entrant queueing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3374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Weakness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337413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Richer state; post-service branching
needs separate mechanism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394106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PPO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394106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P(buffer | queue_lens, busy);
fits SharedStationGym obs/action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65392" y="4581144"/>
            <a:ext cx="5029200" cy="2743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67258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Algorithms that use this surface: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5010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SPT / SRPT — shortest (remaining) processing time 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2552" y="52852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MaxWeight — serve queue with highest weight × length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5559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Whittle / Gittins index — restless bandit index policies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5833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BackPressure — pressure-differential scheduling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Both surfaces coexist — additive design means neither abstraction is forced to cover the other's use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New Architecture: Buffer + Station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1887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188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9280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src_fast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515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λ=0.9  Exp arrivals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1887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1188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src_slow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10515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λ=0.4  Exp arrivals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828800"/>
            <a:ext cx="10972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840" y="1828800"/>
            <a:ext cx="109728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189280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</a:rPr>
              <a:t>B1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103120"/>
            <a:ext cx="9601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buffer · FIFO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3749039"/>
            <a:ext cx="10972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48840" y="3749039"/>
            <a:ext cx="109728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3813047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</a:rPr>
              <a:t>B2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23359"/>
            <a:ext cx="9601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buffer · FIFO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2569463"/>
            <a:ext cx="14173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2569463"/>
            <a:ext cx="14173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79" y="263347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2843783"/>
            <a:ext cx="12801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μ=1.5  c=1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79" y="3044951"/>
            <a:ext cx="12801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4D399"/>
                </a:solidFill>
              </a:rPr>
              <a:t>pulls from buffers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788919"/>
            <a:ext cx="7315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2788919"/>
            <a:ext cx="7315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2852927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sink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2051914"/>
            <a:ext cx="320040" cy="292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47672" y="19293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972153"/>
            <a:ext cx="320040" cy="292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47672" y="3849623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051914"/>
            <a:ext cx="274320" cy="292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46120" y="3972153"/>
            <a:ext cx="274320" cy="292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05810" y="2066544"/>
            <a:ext cx="29260" cy="192023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20440" y="3012033"/>
            <a:ext cx="228599" cy="292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1" y="2889503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6359" y="3012033"/>
            <a:ext cx="228601" cy="292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3792" y="2889503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20" y="16002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8BDF8"/>
                </a:solidFill>
              </a:rPr>
              <a:t>push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2825495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D399"/>
                </a:solidFill>
              </a:rPr>
              <a:t>pull 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43159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BBF24"/>
                </a:solidFill>
              </a:rPr>
              <a:t>↑ scheduling 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</a:rPr>
              <a:t>Source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7E8F9"/>
                </a:solidFill>
              </a:rPr>
              <a:t>Buffer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09059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Station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</a:rPr>
              <a:t>Sink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1280160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1280160"/>
            <a:ext cx="64008" cy="658368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13716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7E8F9"/>
                </a:solidFill>
              </a:rPr>
              <a:t>Buffer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1371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Passive queue. Stores jobs, tracks
stats, notifies station on arrival.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2039112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2039112"/>
            <a:ext cx="64008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21305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Station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2130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Active server. Idles until policy fires;
pulls from chosen buffer (c parallel).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2798064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2798064"/>
            <a:ext cx="64008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1968" y="288950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Scheduler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288950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Policy: choose_buffer(station, buffers)
→ id. 4 built-ins + Callback.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3557016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3557016"/>
            <a:ext cx="64008" cy="6583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01968" y="364845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SCHED evt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1000" y="364845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Fired on-demand when station idles —
avoids cascading event storms.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4074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Topology constraints — validated at build time: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47548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Buffer outgoing edge → Station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08406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Station incoming edges ← Buffers only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5413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Station must have exactly 1 outgoing 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Downstream Architecture: Routed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23744"/>
            <a:ext cx="11887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523744"/>
            <a:ext cx="11887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877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98064"/>
            <a:ext cx="10515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λ=0.9  Exp arrivals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322576"/>
            <a:ext cx="173736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2322576"/>
            <a:ext cx="17373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38658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596896"/>
            <a:ext cx="1600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μ=1.0  c=1  MMcServer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779776"/>
            <a:ext cx="16002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BBF24"/>
                </a:solidFill>
              </a:rPr>
              <a:t>[implicit queue inside]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828800"/>
            <a:ext cx="77724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828800"/>
            <a:ext cx="7772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8928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sink_A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77724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3657600"/>
            <a:ext cx="7772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7216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sink_B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2966314"/>
            <a:ext cx="365760" cy="292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56232" y="28437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2966314"/>
            <a:ext cx="182879" cy="292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63009" y="2066544"/>
            <a:ext cx="29260" cy="1828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2051914"/>
            <a:ext cx="1051561" cy="292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19293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880714"/>
            <a:ext cx="1051561" cy="292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37581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16002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8BDF8"/>
                </a:solidFill>
              </a:rPr>
              <a:t>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59" y="4315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BBF24"/>
                </a:solidFill>
              </a:rPr>
              <a:t>↑ routing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9180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</a:rPr>
              <a:t>Sinks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557784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64008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45896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explicit Buffer nodes. Jobs queue inside the Server.
Router fires on each DEPARTURE — decision is where the job goes next.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280160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280160"/>
            <a:ext cx="64008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13716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Source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1371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Generates arrivals. Pushes directly
to the server — no buffer hop.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039112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039112"/>
            <a:ext cx="64008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21305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21305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Active. Queues jobs internally;
routes each departure via policy.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798064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798064"/>
            <a:ext cx="64008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288950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Router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288950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Policy: route(customer, successors)
→ next_node_id. Fires on DEPARTURE.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557016"/>
            <a:ext cx="53035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557016"/>
            <a:ext cx="64008" cy="6583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364845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DEPART evt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364845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Steps the RL gym loop; observation
is queue_length + busy per server.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4074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Contrast with upstream (Buffer + Station):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47548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Upstream: station pulls from explicit Buffer nodes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508406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Downstream: server pushes to successor on departure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5413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Upstream action → which queue gets served next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574243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Downstream action → where completed job goes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Scheduling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7432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RoundRobinSchedulingPolicy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Cycles through upstream buffers
in fixed order. Stateful cursor.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834640"/>
            <a:ext cx="2615184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971800"/>
            <a:ext cx="2286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8BDF8"/>
                </a:solidFill>
                <a:latin typeface="Courier New"/>
              </a:rPr>
              <a:t>net.set_station_scheduler(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"S",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RoundRobinSchedulingPolicy()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7432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7432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38988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LongestQueueSchedulingPolicy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920240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Serves the buffer with the
most waiting jobs. Greedy.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432" y="2834640"/>
            <a:ext cx="2615184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971800"/>
            <a:ext cx="2286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8BDF8"/>
                </a:solidFill>
                <a:latin typeface="Courier New"/>
              </a:rPr>
              <a:t>net.set_station_scheduler(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"S",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LongestQueueSchedulingPolicy()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7432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38988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FirstNonEmptySchedulingPolicy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20240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Always tries buffer[0] first;
falls through if empty. Deterministic.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2834640"/>
            <a:ext cx="2615184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2971800"/>
            <a:ext cx="2286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8BDF8"/>
                </a:solidFill>
                <a:latin typeface="Courier New"/>
              </a:rPr>
              <a:t>net.set_station_scheduler(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"S",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FirstNonEmptySchedulingPolicy()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280160"/>
            <a:ext cx="27432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280160"/>
            <a:ext cx="2743200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138988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CallbackSchedulingPolicy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1920240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Custom function receives
(station, buffers) → buffer_id.
Full RL integration point.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08592" y="2834640"/>
            <a:ext cx="2615184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3184" y="2971800"/>
            <a:ext cx="2286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8BDF8"/>
                </a:solidFill>
                <a:latin typeface="Courier New"/>
              </a:rPr>
              <a:t>net.set_station_scheduler(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"S",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CallbackSchedulingPolicy(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    lambda s, b: agent(b)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    )</a:t>
            </a:r>
          </a:p>
          <a:p>
            <a:r>
              <a:rPr sz="1100">
                <a:solidFill>
                  <a:srgbClr val="38BDF8"/>
                </a:solidFill>
                <a:latin typeface="Courier New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All policies implement SchedulingPolicy.choose_buffer(station, buffers) → buffer_id  —  fallthrough logic built into Station if chosen buffer is empty.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RL Gym Environment: SharedStationSchedulingGym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350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335024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SharedStationSchedulingGym(gym.Env)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38404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73736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[buffer queue lengths...] + [station busy servers...]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84832"/>
            <a:ext cx="11247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9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Action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13969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Discrete(num_upstream_buffers)  —  index of buffer to 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11247120" cy="38404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420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4203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−Σ queue_length × Δt  per step  (integrated waiting work)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9504"/>
            <a:ext cx="11247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Termination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944368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Event queue empty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11247120" cy="384048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4670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Truncation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346704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max_steps reached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94176"/>
            <a:ext cx="11247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490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74904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Advances sim to next SCHEDULING_DECISION for controlled station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51960"/>
            <a:ext cx="667512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389120"/>
            <a:ext cx="6345936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8BDF8"/>
                </a:solidFill>
                <a:latin typeface="Courier New"/>
              </a:rPr>
              <a:t>env = SharedStationSchedulingGym(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config,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control_station_id="SharedStation",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max_steps=500,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obs, _ = env.reset()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obs shape: (num_buffers + num_stations,)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e.g. [B1_len, B2_len, SharedStation_busy]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obs, reward, terminated, truncated, info = env.step(action)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reward = -sum(queue_lengths) * delta_t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info["episode_stats"] on 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251960"/>
            <a:ext cx="429768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4251960"/>
            <a:ext cx="42976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343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REINFORCE training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80060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Network: src_fast (λ=0.9) → B1 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10235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     src_slow (λ=0.4) → B2 ┤→ Station (μ=1.5) → sink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54041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57058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By episode ~400 the agent learns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600760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 balance servicing across B1/B2,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63093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minimising integrated queue length.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Queue Discipline: FIFO / FBFS / LBFS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124712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64008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Downstream only — applies to legacy Server nodes. Buffers are always FIFO; upstream priority is expressed via the scheduling policy (which buffer to pull from), not within-buffer ordering.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566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</a:rPr>
              <a:t>FIFO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First In, First Out
(original behaviour)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Default. Jobs served in
arrival order. Stable and
predictable.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56616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645920"/>
            <a:ext cx="35661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755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</a:rPr>
              <a:t>FBFS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40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Fewest / Shortest
By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Selects the job with the
lowest stage field.
Favours early-stage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56616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45920"/>
            <a:ext cx="35661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755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</a:rPr>
              <a:t>LBFS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240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Longest / Most-advanced
By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Selects the job with the
highest stage field.
Favours near-completion 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112471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160520"/>
            <a:ext cx="10917936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8BDF8"/>
                </a:solidFill>
                <a:latin typeface="Courier New"/>
              </a:rPr>
              <a:t># Discipline is set on the server node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net.add_server("S1", service_rate=1.0, c=2,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           discipline="FBFS")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Jobs carry a stage field (int) set by the source: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net.add_source("src", arrival_rate=0.5,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               next_node_id="S1")</a:t>
            </a:r>
          </a:p>
          <a:p>
            <a:r>
              <a:rPr sz="1300">
                <a:solidFill>
                  <a:srgbClr val="38BDF8"/>
                </a:solidFill>
                <a:latin typeface="Courier New"/>
              </a:rPr>
              <a:t># stage defaults to 0; set in customer dict to use FBFS/LBFS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Discipline Comparison: Simulated M/M/1 Stats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M/M/1 · λ=0.8 · μ=1.0 · ρ=0.8 · warm-up 2 000 · run 12 000 · stage ∈ {0,1,2,3} uniform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FIFO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</a:rPr>
              <a:t>FBFS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</a:rPr>
              <a:t>LBFS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Theory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471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945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Mean sojourn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505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theory: 5.000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240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5.179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40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5.173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5.173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240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5.000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07208"/>
            <a:ext cx="11247120" cy="594360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529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529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Mean wait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108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theory: 4.000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898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4.178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898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4.171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98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4.171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898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4.000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65576"/>
            <a:ext cx="112471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5112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511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Mean system length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7673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theory: 4.000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5570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4.177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5570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4.177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570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4.177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5570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4.000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23944"/>
            <a:ext cx="11247120" cy="594360"/>
          </a:xfrm>
          <a:prstGeom prst="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1696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1696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Mean queue length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4256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theory: 3.200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153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3.371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2153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3.371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2153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3.371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2153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3.200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19472"/>
            <a:ext cx="1124712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919472"/>
            <a:ext cx="64008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992624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Why are L and Lq identical across disciplines?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12664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 a single-server M/M/1 queue, Little's Law (L = λ·W) still holds regardless of discipline. L and Lq are time-averaged totals — the same jobs depart, just in a different order. Discipline affects which individual jobs wait longer, not the aggregate queue length.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