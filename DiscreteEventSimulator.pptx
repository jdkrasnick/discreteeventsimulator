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Discrete Event Simulator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63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38BDF8"/>
                </a:solidFill>
              </a:rPr>
              <a:t>Queueing network simulation with live CLI visualization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0"/>
            <a:ext cx="11274552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114800"/>
            <a:ext cx="283464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4133087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8BDF8"/>
                </a:solidFill>
              </a:rPr>
              <a:t>M/M/c Queues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4114800"/>
            <a:ext cx="283464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4760" y="4133087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8BDF8"/>
                </a:solidFill>
              </a:rPr>
              <a:t>Jackson Networks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0" y="4114800"/>
            <a:ext cx="283464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78040" y="4133087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8BDF8"/>
                </a:solidFill>
              </a:rPr>
              <a:t>Rich CLI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120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</a:rPr>
              <a:t>Python 3  ·  pure stdlib DES engine  ·  rich + networkx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73152" cy="65836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8BDF8"/>
                </a:solidFill>
              </a:rPr>
              <a:t>examples/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User scripts — define networks, call net.run()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57400"/>
            <a:ext cx="1124712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057400"/>
            <a:ext cx="73152" cy="65836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148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4D399"/>
                </a:solidFill>
              </a:rPr>
              <a:t>des/network/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148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QueueingNetwork — wires nodes, owns DiGraph, routing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834640"/>
            <a:ext cx="1124712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834640"/>
            <a:ext cx="73152" cy="65836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926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BBF24"/>
                </a:solidFill>
              </a:rPr>
              <a:t>des/nodes/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Source · MMcServer · Sink — Source uses Poisson arrivals (Exp inter-arrival) by default; pluggable via inter_arrival_fn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611880"/>
            <a:ext cx="1124712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611880"/>
            <a:ext cx="73152" cy="658368"/>
          </a:xfrm>
          <a:prstGeom prst="rect">
            <a:avLst/>
          </a:prstGeom>
          <a:solidFill>
            <a:srgbClr val="F47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03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47218"/>
                </a:solidFill>
              </a:rPr>
              <a:t>des/engine/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703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Scheduler (heapq) · Simulation clock · Event dispatch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389120"/>
            <a:ext cx="1124712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389120"/>
            <a:ext cx="73152" cy="65836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4805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94A3B8"/>
                </a:solidFill>
              </a:rPr>
              <a:t>des/stats/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4480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Welford + time-weighted accumulators — W, Wq, L, Lq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</a:rPr>
              <a:t>Each layer has one responsibility. The engine knows nothing about queues; nodes know nothing about the heap.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DES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8BDF8"/>
                </a:solidFill>
              </a:rPr>
              <a:t>Event Calendar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8191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Priority queue (heapq) sorted by (time, seq)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8BDF8"/>
                </a:solidFill>
              </a:rPr>
              <a:t>Clock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6771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Jumps to next event time — no idle spinning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8BDF8"/>
                </a:solidFill>
              </a:rPr>
              <a:t>Tiebreaker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5351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seq counter ensures deterministic FIFO ordering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8328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8BDF8"/>
                </a:solidFill>
              </a:rPr>
              <a:t>Dispatch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3931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nodes[event.target_id].handle(event)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06908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8BDF8"/>
                </a:solidFill>
              </a:rPr>
              <a:t>Causality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2511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Events schedule future events via clock + delay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1234440"/>
            <a:ext cx="5943600" cy="3840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08192" y="1371600"/>
            <a:ext cx="5614416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38BDF8"/>
                </a:solidFill>
                <a:latin typeface="Courier New"/>
              </a:rPr>
              <a:t>@dataclass(order=True, frozen=True)</a:t>
            </a:r>
          </a:p>
          <a:p>
            <a:r>
              <a:rPr sz="1300">
                <a:solidFill>
                  <a:srgbClr val="38BDF8"/>
                </a:solidFill>
                <a:latin typeface="Courier New"/>
              </a:rPr>
              <a:t>class Event:</a:t>
            </a:r>
          </a:p>
          <a:p>
            <a:r>
              <a:rPr sz="1300">
                <a:solidFill>
                  <a:srgbClr val="38BDF8"/>
                </a:solidFill>
                <a:latin typeface="Courier New"/>
              </a:rPr>
              <a:t>    time:      float      # heap key</a:t>
            </a:r>
          </a:p>
          <a:p>
            <a:r>
              <a:rPr sz="1300">
                <a:solidFill>
                  <a:srgbClr val="38BDF8"/>
                </a:solidFill>
                <a:latin typeface="Courier New"/>
              </a:rPr>
              <a:t>    seq:       int        # tiebreaker</a:t>
            </a:r>
          </a:p>
          <a:p>
            <a:r>
              <a:rPr sz="1300">
                <a:solidFill>
                  <a:srgbClr val="38BDF8"/>
                </a:solidFill>
                <a:latin typeface="Courier New"/>
              </a:rPr>
              <a:t>    type:      EventType  # compare=False</a:t>
            </a:r>
          </a:p>
          <a:p>
            <a:r>
              <a:rPr sz="1300">
                <a:solidFill>
                  <a:srgbClr val="38BDF8"/>
                </a:solidFill>
                <a:latin typeface="Courier New"/>
              </a:rPr>
              <a:t>    target_id: str        # compare=False</a:t>
            </a:r>
          </a:p>
          <a:p>
            <a:r>
              <a:rPr sz="1300">
                <a:solidFill>
                  <a:srgbClr val="38BDF8"/>
                </a:solidFill>
                <a:latin typeface="Courier New"/>
              </a:rPr>
              <a:t>    payload:   Any        # compare=False</a:t>
            </a:r>
          </a:p>
          <a:p>
            <a:r>
              <a:rPr sz="1300">
                <a:solidFill>
                  <a:srgbClr val="38BDF8"/>
                </a:solidFill>
                <a:latin typeface="Courier New"/>
              </a:rPr>
              <a:t/>
            </a:r>
          </a:p>
          <a:p>
            <a:r>
              <a:rPr sz="1300">
                <a:solidFill>
                  <a:srgbClr val="38BDF8"/>
                </a:solidFill>
                <a:latin typeface="Courier New"/>
              </a:rPr>
              <a:t># Main loop</a:t>
            </a:r>
          </a:p>
          <a:p>
            <a:r>
              <a:rPr sz="1300">
                <a:solidFill>
                  <a:srgbClr val="38BDF8"/>
                </a:solidFill>
                <a:latin typeface="Courier New"/>
              </a:rPr>
              <a:t>while not scheduler.is_empty():</a:t>
            </a:r>
          </a:p>
          <a:p>
            <a:r>
              <a:rPr sz="1300">
                <a:solidFill>
                  <a:srgbClr val="38BDF8"/>
                </a:solidFill>
                <a:latin typeface="Courier New"/>
              </a:rPr>
              <a:t>    event      = scheduler.pop_next()</a:t>
            </a:r>
          </a:p>
          <a:p>
            <a:r>
              <a:rPr sz="1300">
                <a:solidFill>
                  <a:srgbClr val="38BDF8"/>
                </a:solidFill>
                <a:latin typeface="Courier New"/>
              </a:rPr>
              <a:t>    clock      = event.time</a:t>
            </a:r>
          </a:p>
          <a:p>
            <a:r>
              <a:rPr sz="1300">
                <a:solidFill>
                  <a:srgbClr val="38BDF8"/>
                </a:solidFill>
                <a:latin typeface="Courier New"/>
              </a:rPr>
              <a:t>    nodes[event.target_id].handle(event)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Queueing Networks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56032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</a:rPr>
              <a:t>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280160"/>
            <a:ext cx="256032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3075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</a:rPr>
              <a:t>ρ = λ/(cμ)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280160"/>
            <a:ext cx="256032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13075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</a:rPr>
              <a:t>W (sojourn)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0" y="1280160"/>
            <a:ext cx="256032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3075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</a:rPr>
              <a:t>Wq (wait)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627632"/>
            <a:ext cx="256032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673352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M/M/1  (ρ=0.8)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1627632"/>
            <a:ext cx="256032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1673352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0.80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1627632"/>
            <a:ext cx="256032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1673352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5.00 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0" y="1627632"/>
            <a:ext cx="256032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0" y="1673352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4.00 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1993392"/>
            <a:ext cx="2560320" cy="347472"/>
          </a:xfrm>
          <a:prstGeom prst="rect">
            <a:avLst/>
          </a:prstGeom>
          <a:solidFill>
            <a:srgbClr val="17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039112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M/M/2  (ρ=0.4)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0" y="1993392"/>
            <a:ext cx="2560320" cy="347472"/>
          </a:xfrm>
          <a:prstGeom prst="rect">
            <a:avLst/>
          </a:prstGeom>
          <a:solidFill>
            <a:srgbClr val="17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91840" y="2039112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0.40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1993392"/>
            <a:ext cx="2560320" cy="347472"/>
          </a:xfrm>
          <a:prstGeom prst="rect">
            <a:avLst/>
          </a:prstGeom>
          <a:solidFill>
            <a:srgbClr val="17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0" y="2039112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1.25 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0" y="1993392"/>
            <a:ext cx="2560320" cy="347472"/>
          </a:xfrm>
          <a:prstGeom prst="rect">
            <a:avLst/>
          </a:prstGeom>
          <a:solidFill>
            <a:srgbClr val="17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0" y="2039112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0.25 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359152"/>
            <a:ext cx="256032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2404872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M/M/4  (ρ=0.2)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0" y="2359152"/>
            <a:ext cx="256032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91840" y="2404872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0.20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0" y="2359152"/>
            <a:ext cx="256032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40" y="2404872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1.03 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86800" y="2359152"/>
            <a:ext cx="256032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78240" y="2404872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0.03 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2788920"/>
            <a:ext cx="11247120" cy="3520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" y="2926080"/>
            <a:ext cx="10917936" cy="3246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38BDF8"/>
                </a:solidFill>
                <a:latin typeface="Courier New"/>
              </a:rPr>
              <a:t>net = QueueingNetwork(warm_up_time=500)</a:t>
            </a:r>
          </a:p>
          <a:p>
            <a:r>
              <a:rPr sz="1300">
                <a:solidFill>
                  <a:srgbClr val="38BDF8"/>
                </a:solidFill>
                <a:latin typeface="Courier New"/>
              </a:rPr>
              <a:t># arrival_rate=λ — inter-arrival ~ Exp(λ) by default</a:t>
            </a:r>
          </a:p>
          <a:p>
            <a:r>
              <a:rPr sz="1300">
                <a:solidFill>
                  <a:srgbClr val="38BDF8"/>
                </a:solidFill>
                <a:latin typeface="Courier New"/>
              </a:rPr>
              <a:t># override: inter_arrival_fn=lambda: random.uniform(1, 3)</a:t>
            </a:r>
          </a:p>
          <a:p>
            <a:r>
              <a:rPr sz="1300">
                <a:solidFill>
                  <a:srgbClr val="38BDF8"/>
                </a:solidFill>
                <a:latin typeface="Courier New"/>
              </a:rPr>
              <a:t>net.add_source("src",   arrival_rate=0.8, next_node_id="s1")</a:t>
            </a:r>
          </a:p>
          <a:p>
            <a:r>
              <a:rPr sz="1300">
                <a:solidFill>
                  <a:srgbClr val="38BDF8"/>
                </a:solidFill>
                <a:latin typeface="Courier New"/>
              </a:rPr>
              <a:t>net.add_server("s1",   service_rate=1.0, c=1)</a:t>
            </a:r>
          </a:p>
          <a:p>
            <a:r>
              <a:rPr sz="1300">
                <a:solidFill>
                  <a:srgbClr val="38BDF8"/>
                </a:solidFill>
                <a:latin typeface="Courier New"/>
              </a:rPr>
              <a:t>net.add_server("s2",   service_rate=0.8, c=2)</a:t>
            </a:r>
          </a:p>
          <a:p>
            <a:r>
              <a:rPr sz="1300">
                <a:solidFill>
                  <a:srgbClr val="38BDF8"/>
                </a:solidFill>
                <a:latin typeface="Courier New"/>
              </a:rPr>
              <a:t>net.add_sink("sink")</a:t>
            </a:r>
          </a:p>
          <a:p>
            <a:r>
              <a:rPr sz="1300">
                <a:solidFill>
                  <a:srgbClr val="38BDF8"/>
                </a:solidFill>
                <a:latin typeface="Courier New"/>
              </a:rPr>
              <a:t>net.add_edge("src", "s1")  # weight=1.0 default</a:t>
            </a:r>
          </a:p>
          <a:p>
            <a:r>
              <a:rPr sz="1300">
                <a:solidFill>
                  <a:srgbClr val="38BDF8"/>
                </a:solidFill>
                <a:latin typeface="Courier New"/>
              </a:rPr>
              <a:t>net.add_edge("s1",  "s2")</a:t>
            </a:r>
          </a:p>
          <a:p>
            <a:r>
              <a:rPr sz="1300">
                <a:solidFill>
                  <a:srgbClr val="38BDF8"/>
                </a:solidFill>
                <a:latin typeface="Courier New"/>
              </a:rPr>
              <a:t>net.add_edge("s2",  "sink")</a:t>
            </a:r>
          </a:p>
          <a:p>
            <a:r>
              <a:rPr sz="1300">
                <a:solidFill>
                  <a:srgbClr val="38BDF8"/>
                </a:solidFill>
                <a:latin typeface="Courier New"/>
              </a:rPr>
              <a:t>net.run(until=100_000, cli=True)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Live CLI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7772400" cy="576072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7772400" cy="27432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72768"/>
            <a:ext cx="7406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6B6D4"/>
                </a:solidFill>
                <a:latin typeface="Courier New"/>
              </a:rPr>
              <a:t>╭── Network Config ───────────────────────────╮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69948"/>
            <a:ext cx="7406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6B6D4"/>
                </a:solidFill>
                <a:latin typeface="Courier New"/>
              </a:rPr>
              <a:t>│ Node    Kind    Config                       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67128"/>
            <a:ext cx="7406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  <a:latin typeface="Courier New"/>
              </a:rPr>
              <a:t>│ source  source  arrivals: Exp(λ=0.5)         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64308"/>
            <a:ext cx="7406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  <a:latin typeface="Courier New"/>
              </a:rPr>
              <a:t>│ server1 server  c=1  service: Exp(μ=1.0)     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61488"/>
            <a:ext cx="7406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  <a:latin typeface="Courier New"/>
              </a:rPr>
              <a:t>│ server2 server  c=2  service: Exp(μ=0.8)     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58668"/>
            <a:ext cx="7406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  <a:latin typeface="Courier New"/>
              </a:rPr>
              <a:t>│ sink    sink    —                            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355848"/>
            <a:ext cx="7406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6B6D4"/>
                </a:solidFill>
                <a:latin typeface="Courier New"/>
              </a:rPr>
              <a:t>╰─────────────────────────────────────────────╯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653028"/>
            <a:ext cx="7406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  <a:latin typeface="Courier New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950208"/>
            <a:ext cx="7406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  <a:latin typeface="Courier New"/>
              </a:rPr>
              <a:t>╭── Network Topology ─────────────────────────╮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247388"/>
            <a:ext cx="7406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  <a:latin typeface="Courier New"/>
              </a:rPr>
              <a:t>│  ◉ source  ───────▶  ▣ server1              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544568"/>
            <a:ext cx="7406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  <a:latin typeface="Courier New"/>
              </a:rPr>
              <a:t>│  ▣ server1 ───────▶  ▣ server2              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841748"/>
            <a:ext cx="7406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  <a:latin typeface="Courier New"/>
              </a:rPr>
              <a:t>│  ▣ server2 ───────▶  ◎ sink                 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138928"/>
            <a:ext cx="7406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  <a:latin typeface="Courier New"/>
              </a:rPr>
              <a:t>╰─────────────────────────────────────────────╯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436108"/>
            <a:ext cx="7406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  <a:latin typeface="Courier New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3288"/>
            <a:ext cx="7406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4A3B8"/>
                </a:solidFill>
                <a:latin typeface="Courier New"/>
              </a:rPr>
              <a:t>  t = 42381.50  [████████████░░░░░░░]  42.4% 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030468"/>
            <a:ext cx="7406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  <a:latin typeface="Courier New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327648"/>
            <a:ext cx="7406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  <a:latin typeface="Courier New"/>
              </a:rPr>
              <a:t>╭── Live Statistics ──────────────────────────╮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624828"/>
            <a:ext cx="7406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38BDF8"/>
                </a:solidFill>
                <a:latin typeface="Courier New"/>
              </a:rPr>
              <a:t>│ Node    Kind   Servers  Queue  ρ     W      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922008"/>
            <a:ext cx="7406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  <a:latin typeface="Courier New"/>
              </a:rPr>
              <a:t>│ source  source  λ=0.5    —     —     —      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7219188"/>
            <a:ext cx="7406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34D399"/>
                </a:solidFill>
                <a:latin typeface="Courier New"/>
              </a:rPr>
              <a:t>│ server1 server  1/1      3   0.50  2.14     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7516368"/>
            <a:ext cx="7406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BBF24"/>
                </a:solidFill>
                <a:latin typeface="Courier New"/>
              </a:rPr>
              <a:t>│ server2 server  2/2      7   0.63  5.61     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7813548"/>
            <a:ext cx="7406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34D399"/>
                </a:solidFill>
                <a:latin typeface="Courier New"/>
              </a:rPr>
              <a:t>│ sink    sink     —       —     —  41203done 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8110728"/>
            <a:ext cx="7406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  <a:latin typeface="Courier New"/>
              </a:rPr>
              <a:t>╰─────────────────────────────────────────────╯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58200" y="1371600"/>
            <a:ext cx="54864" cy="822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41080" y="13258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B6D4"/>
                </a:solidFill>
              </a:rPr>
              <a:t>Config Panel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41080" y="1627632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Printed once at startup: arrival
distribution, service dist, policy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58200" y="2560320"/>
            <a:ext cx="54864" cy="8229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41080" y="2514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8BDF8"/>
                </a:solidFill>
              </a:rPr>
              <a:t>Topology Panel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41080" y="2816352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ASCII graph — nodes and routing
probabilities rendered at start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58200" y="3749040"/>
            <a:ext cx="54864" cy="8229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41080" y="37033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</a:rPr>
              <a:t>Progress Bar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41080" y="4005072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Simulated time vs end time
with percentage complete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58200" y="4937760"/>
            <a:ext cx="54864" cy="8229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41080" y="48920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BBF24"/>
                </a:solidFill>
              </a:rPr>
              <a:t>Live Stats Table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41080" y="5193792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Per-node: queue depth, utilization
ρ (color-coded), W, Wq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Routing Policies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657600" cy="5212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36576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8BDF8"/>
                </a:solidFill>
              </a:rPr>
              <a:t>ProbabilisticRouter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19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Samples next node from a weighted
discrete distribution over outgoing edges.
Default policy — sufficient for Jackson networks.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017520"/>
            <a:ext cx="347472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154680"/>
            <a:ext cx="3145536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38BDF8"/>
                </a:solidFill>
                <a:latin typeface="Courier New"/>
              </a:rPr>
              <a:t>net.add_edge("S1", "S2a", weight=0.4)</a:t>
            </a:r>
          </a:p>
          <a:p>
            <a:r>
              <a:rPr sz="1200">
                <a:solidFill>
                  <a:srgbClr val="38BDF8"/>
                </a:solidFill>
                <a:latin typeface="Courier New"/>
              </a:rPr>
              <a:t>net.add_edge("S1", "S2b", weight=0.6)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280160"/>
            <a:ext cx="3657600" cy="5212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280160"/>
            <a:ext cx="3657600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3716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4D399"/>
                </a:solidFill>
              </a:rPr>
              <a:t>RoundRobinRouter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1874519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Cycles through successors in fixed order.
Useful for load balancing across identical
parallel servers.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3017520"/>
            <a:ext cx="347472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9432" y="3154680"/>
            <a:ext cx="3145536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38BDF8"/>
                </a:solidFill>
                <a:latin typeface="Courier New"/>
              </a:rPr>
              <a:t>from des.network.routing import RoundRobinRouter</a:t>
            </a:r>
          </a:p>
          <a:p>
            <a:r>
              <a:rPr sz="1200">
                <a:solidFill>
                  <a:srgbClr val="38BDF8"/>
                </a:solidFill>
                <a:latin typeface="Courier New"/>
              </a:rPr>
              <a:t>net.set_router(RoundRobinRouter())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280160"/>
            <a:ext cx="3657600" cy="5212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280160"/>
            <a:ext cx="365760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13716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BBF24"/>
                </a:solidFill>
              </a:rPr>
              <a:t>ClassBasedRouter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1874519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Routes on customer['class'] field.
Each source tags customers with a class.
Enables multiclass networks like criss-cross.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1040" y="3017520"/>
            <a:ext cx="347472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85632" y="3154680"/>
            <a:ext cx="3145536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38BDF8"/>
                </a:solidFill>
                <a:latin typeface="Courier New"/>
              </a:rPr>
              <a:t>net.set_router(ClassBasedRouter({</a:t>
            </a:r>
          </a:p>
          <a:p>
            <a:r>
              <a:rPr sz="1200">
                <a:solidFill>
                  <a:srgbClr val="38BDF8"/>
                </a:solidFill>
                <a:latin typeface="Courier New"/>
              </a:rPr>
              <a:t>    "class1": "S2",</a:t>
            </a:r>
          </a:p>
          <a:p>
            <a:r>
              <a:rPr sz="1200">
                <a:solidFill>
                  <a:srgbClr val="38BDF8"/>
                </a:solidFill>
                <a:latin typeface="Courier New"/>
              </a:rPr>
              <a:t>    "class3": "sink3",</a:t>
            </a:r>
          </a:p>
          <a:p>
            <a:r>
              <a:rPr sz="1200">
                <a:solidFill>
                  <a:srgbClr val="38BDF8"/>
                </a:solidFill>
                <a:latin typeface="Courier New"/>
              </a:rPr>
              <a:t>}))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</a:rPr>
              <a:t>All routers implement RoutingPolicy.next_node(customer, successors) → str  —  swap without touching any other code.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Criss-Cross Network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94A3B8"/>
                </a:solidFill>
              </a:rPr>
              <a:t>A multiclass network where two customer classes share a server but follow different routes.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8BDF8"/>
                </a:solidFill>
              </a:rPr>
              <a:t>class1_src (λ=0.3) ──▶ S1 ──▶ S2 ──▶ sink_class2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9339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BBF24"/>
                </a:solidFill>
              </a:rPr>
              <a:t>class3_src (λ=0.2) ──▶ S1 ──▶ sink_class3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40864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                        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88336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                    shared server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017520"/>
            <a:ext cx="6400800" cy="3566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3154680"/>
            <a:ext cx="6071616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38BDF8"/>
                </a:solidFill>
                <a:latin typeface="Courier New"/>
              </a:rPr>
              <a:t>net = QueueingNetwork(warm_up_time=500)</a:t>
            </a:r>
          </a:p>
          <a:p>
            <a:r>
              <a:rPr sz="1300">
                <a:solidFill>
                  <a:srgbClr val="38BDF8"/>
                </a:solidFill>
                <a:latin typeface="Courier New"/>
              </a:rPr>
              <a:t/>
            </a:r>
          </a:p>
          <a:p>
            <a:r>
              <a:rPr sz="1300">
                <a:solidFill>
                  <a:srgbClr val="38BDF8"/>
                </a:solidFill>
                <a:latin typeface="Courier New"/>
              </a:rPr>
              <a:t>net.add_source("class1_src", arrival_rate=0.3,</a:t>
            </a:r>
          </a:p>
          <a:p>
            <a:r>
              <a:rPr sz="1300">
                <a:solidFill>
                  <a:srgbClr val="38BDF8"/>
                </a:solidFill>
                <a:latin typeface="Courier New"/>
              </a:rPr>
              <a:t>               next_node_id="S1", customer_class="class1")</a:t>
            </a:r>
          </a:p>
          <a:p>
            <a:r>
              <a:rPr sz="1300">
                <a:solidFill>
                  <a:srgbClr val="38BDF8"/>
                </a:solidFill>
                <a:latin typeface="Courier New"/>
              </a:rPr>
              <a:t>net.add_source("class3_src", arrival_rate=0.2,</a:t>
            </a:r>
          </a:p>
          <a:p>
            <a:r>
              <a:rPr sz="1300">
                <a:solidFill>
                  <a:srgbClr val="38BDF8"/>
                </a:solidFill>
                <a:latin typeface="Courier New"/>
              </a:rPr>
              <a:t>               next_node_id="S1", customer_class="class3")</a:t>
            </a:r>
          </a:p>
          <a:p>
            <a:r>
              <a:rPr sz="1300">
                <a:solidFill>
                  <a:srgbClr val="38BDF8"/>
                </a:solidFill>
                <a:latin typeface="Courier New"/>
              </a:rPr>
              <a:t/>
            </a:r>
          </a:p>
          <a:p>
            <a:r>
              <a:rPr sz="1300">
                <a:solidFill>
                  <a:srgbClr val="38BDF8"/>
                </a:solidFill>
                <a:latin typeface="Courier New"/>
              </a:rPr>
              <a:t>net.add_server("S1", service_rate=1.0, c=1)</a:t>
            </a:r>
          </a:p>
          <a:p>
            <a:r>
              <a:rPr sz="1300">
                <a:solidFill>
                  <a:srgbClr val="38BDF8"/>
                </a:solidFill>
                <a:latin typeface="Courier New"/>
              </a:rPr>
              <a:t>net.add_server("S2", service_rate=0.8, c=1)</a:t>
            </a:r>
          </a:p>
          <a:p>
            <a:r>
              <a:rPr sz="1300">
                <a:solidFill>
                  <a:srgbClr val="38BDF8"/>
                </a:solidFill>
                <a:latin typeface="Courier New"/>
              </a:rPr>
              <a:t>net.add_sink("sink_class2")</a:t>
            </a:r>
          </a:p>
          <a:p>
            <a:r>
              <a:rPr sz="1300">
                <a:solidFill>
                  <a:srgbClr val="38BDF8"/>
                </a:solidFill>
                <a:latin typeface="Courier New"/>
              </a:rPr>
              <a:t>net.add_sink("sink_class3")</a:t>
            </a:r>
          </a:p>
          <a:p>
            <a:r>
              <a:rPr sz="1300">
                <a:solidFill>
                  <a:srgbClr val="38BDF8"/>
                </a:solidFill>
                <a:latin typeface="Courier New"/>
              </a:rPr>
              <a:t/>
            </a:r>
          </a:p>
          <a:p>
            <a:r>
              <a:rPr sz="1300">
                <a:solidFill>
                  <a:srgbClr val="38BDF8"/>
                </a:solidFill>
                <a:latin typeface="Courier New"/>
              </a:rPr>
              <a:t>net.set_router(ClassBasedRouter({</a:t>
            </a:r>
          </a:p>
          <a:p>
            <a:r>
              <a:rPr sz="1300">
                <a:solidFill>
                  <a:srgbClr val="38BDF8"/>
                </a:solidFill>
                <a:latin typeface="Courier New"/>
              </a:rPr>
              <a:t>    "class1": "S2",</a:t>
            </a:r>
          </a:p>
          <a:p>
            <a:r>
              <a:rPr sz="1300">
                <a:solidFill>
                  <a:srgbClr val="38BDF8"/>
                </a:solidFill>
                <a:latin typeface="Courier New"/>
              </a:rPr>
              <a:t>    "class3": "sink_class3",</a:t>
            </a:r>
          </a:p>
          <a:p>
            <a:r>
              <a:rPr sz="1300">
                <a:solidFill>
                  <a:srgbClr val="38BDF8"/>
                </a:solidFill>
                <a:latin typeface="Courier New"/>
              </a:rPr>
              <a:t>}))</a:t>
            </a:r>
          </a:p>
          <a:p>
            <a:r>
              <a:rPr sz="1300">
                <a:solidFill>
                  <a:srgbClr val="38BDF8"/>
                </a:solidFill>
                <a:latin typeface="Courier New"/>
              </a:rPr>
              <a:t/>
            </a:r>
          </a:p>
          <a:p>
            <a:r>
              <a:rPr sz="1300">
                <a:solidFill>
                  <a:srgbClr val="38BDF8"/>
                </a:solidFill>
                <a:latin typeface="Courier New"/>
              </a:rPr>
              <a:t>net.run(until=50_000, cli=True)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3200400"/>
            <a:ext cx="54864" cy="8229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0" y="31546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8BDF8"/>
                </a:solidFill>
              </a:rPr>
              <a:t>Two sources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3456432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Each tags customers with
a class field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0" y="4343400"/>
            <a:ext cx="54864" cy="8229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42976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BBF24"/>
                </a:solidFill>
              </a:rPr>
              <a:t>Shared server S1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4599432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Both classes compete
for the same resource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0" y="5486400"/>
            <a:ext cx="54864" cy="8229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54406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</a:rPr>
              <a:t>Class-aware exit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5742432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ClassBasedRouter splits
traffic at S1 by class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